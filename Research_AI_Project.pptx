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1052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A3AEC2"/>
                </a:solidFill>
                <a:latin typeface="Aptos"/>
              </a:defRPr>
            </a:pPr>
            <a:r>
              <a:t>RESEARCH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49224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3AEC2"/>
                </a:solidFill>
                <a:latin typeface="Aptos"/>
              </a:defRPr>
            </a:pPr>
            <a:r>
              <a:t>01  /  09</a:t>
            </a:r>
          </a:p>
        </p:txBody>
      </p:sp>
      <p:sp>
        <p:nvSpPr>
          <p:cNvPr id="5" name="Oval 4"/>
          <p:cNvSpPr/>
          <p:nvPr/>
        </p:nvSpPr>
        <p:spPr>
          <a:xfrm>
            <a:off x="8458200" y="960120"/>
            <a:ext cx="2743200" cy="2743200"/>
          </a:xfrm>
          <a:prstGeom prst="ellipse">
            <a:avLst/>
          </a:prstGeom>
          <a:solidFill>
            <a:srgbClr val="151F31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97112" y="1399032"/>
            <a:ext cx="1874519" cy="1874519"/>
          </a:xfrm>
          <a:prstGeom prst="ellipse">
            <a:avLst/>
          </a:prstGeom>
          <a:solidFill>
            <a:srgbClr val="090D16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91472" y="1993392"/>
            <a:ext cx="685800" cy="685800"/>
          </a:xfrm>
          <a:prstGeom prst="ellipse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0" y="1353312"/>
            <a:ext cx="146304" cy="146304"/>
          </a:xfrm>
          <a:prstGeom prst="ellipse">
            <a:avLst/>
          </a:prstGeom>
          <a:solidFill>
            <a:srgbClr val="49D8D0"/>
          </a:solidFill>
          <a:ln>
            <a:solidFill>
              <a:srgbClr val="49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1545336"/>
            <a:ext cx="146304" cy="146304"/>
          </a:xfrm>
          <a:prstGeom prst="ellipse">
            <a:avLst/>
          </a:prstGeom>
          <a:solidFill>
            <a:srgbClr val="F4BD67"/>
          </a:solidFill>
          <a:ln>
            <a:solidFill>
              <a:srgbClr val="F4B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43616" y="3172968"/>
            <a:ext cx="146304" cy="146304"/>
          </a:xfrm>
          <a:prstGeom prst="ellipse">
            <a:avLst/>
          </a:prstGeom>
          <a:solidFill>
            <a:srgbClr val="FF7EAD"/>
          </a:solidFill>
          <a:ln>
            <a:solidFill>
              <a:srgbClr val="FF7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32520" y="3127248"/>
            <a:ext cx="146304" cy="146304"/>
          </a:xfrm>
          <a:prstGeom prst="ellipse">
            <a:avLst/>
          </a:prstGeom>
          <a:solidFill>
            <a:srgbClr val="5AD795"/>
          </a:solidFill>
          <a:ln>
            <a:solidFill>
              <a:srgbClr val="5AD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170432"/>
            <a:ext cx="5943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9D8D0"/>
                </a:solidFill>
                <a:latin typeface="Aptos"/>
              </a:defRPr>
            </a:pPr>
            <a:r>
              <a:t>"  INTELLIGENT RESEARCH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783080"/>
            <a:ext cx="69494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4F7FC"/>
                </a:solidFill>
                <a:latin typeface="Aptos"/>
              </a:defRPr>
            </a:pPr>
            <a:r>
              <a:t>Research,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4F7FC"/>
                </a:solidFill>
                <a:latin typeface="Aptos"/>
              </a:defRPr>
            </a:pPr>
            <a:r>
              <a:t>with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712463"/>
            <a:ext cx="658368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3AEC2"/>
                </a:solidFill>
                <a:latin typeface="Aptos"/>
              </a:defRPr>
            </a:pPr>
            <a:r>
              <a:t>An AI-powered workflow that turns a topic into 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3AEC2"/>
                </a:solidFill>
                <a:latin typeface="Aptos"/>
              </a:defRPr>
            </a:pPr>
            <a:r>
              <a:t>source-grounded, verified Markdown report.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882896"/>
            <a:ext cx="2286000" cy="448056"/>
          </a:xfrm>
          <a:prstGeom prst="roundRect">
            <a:avLst>
              <a:gd name="adj" fmla="val 14000"/>
            </a:avLst>
          </a:prstGeom>
          <a:solidFill>
            <a:srgbClr val="151F31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93776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4F7FC"/>
                </a:solidFill>
                <a:latin typeface="Aptos"/>
              </a:defRPr>
            </a:pPr>
            <a:r>
              <a:t>PROJECT OVERVIEW  " 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0624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F7FC"/>
                </a:solidFill>
                <a:latin typeface="Aptos"/>
              </a:defRPr>
            </a:pPr>
            <a:r>
              <a:t>Research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60624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3AEC2"/>
                </a:solidFill>
                <a:latin typeface="Aptos"/>
              </a:defRPr>
            </a:pPr>
            <a:r>
              <a:t>PLAN  "  INVESTIGATE  "  VERIFY  "  SYNTHESIZE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9D8D0"/>
                </a:solidFill>
                <a:latin typeface="Aptos"/>
              </a:defRPr>
            </a:pPr>
            <a:r>
              <a:t>01  /  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4F7FC"/>
                </a:solidFill>
                <a:latin typeface="Aptos"/>
              </a:defRPr>
            </a:pPr>
            <a:r>
              <a:t>From scattered sources to a usable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A3AEC2"/>
                </a:solidFill>
                <a:latin typeface="Aptos"/>
              </a:defRPr>
            </a:pPr>
            <a:r>
              <a:t>RESEARCH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49224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3AEC2"/>
                </a:solidFill>
                <a:latin typeface="Aptos"/>
              </a:defRPr>
            </a:pPr>
            <a:r>
              <a:t>02  / 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A3AEC2"/>
                </a:solidFill>
                <a:latin typeface="Aptos"/>
              </a:defRPr>
            </a:pPr>
            <a:r>
              <a:t>Research is not just finding links. It is connecting claims to evidence and making the result useful.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68880"/>
            <a:ext cx="3429000" cy="2286000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" y="2651760"/>
            <a:ext cx="50292" cy="1920240"/>
          </a:xfrm>
          <a:prstGeom prst="rect">
            <a:avLst/>
          </a:prstGeom>
          <a:solidFill>
            <a:srgbClr val="75A9FF"/>
          </a:solidFill>
          <a:ln>
            <a:solidFill>
              <a:srgbClr val="75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42616"/>
            <a:ext cx="28986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75A9FF"/>
                </a:solidFill>
                <a:latin typeface="Aptos"/>
              </a:defRPr>
            </a:pPr>
            <a:r>
              <a:t>01  FRAGMENTED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926080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Sources are spread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383280"/>
            <a:ext cx="289864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3AEC2"/>
                </a:solidFill>
                <a:latin typeface="Aptos"/>
              </a:defRPr>
            </a:pPr>
            <a:r>
              <a:t>Web pages and academic literature require separate search and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468880"/>
            <a:ext cx="3429000" cy="2286000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5424" y="2651760"/>
            <a:ext cx="50292" cy="1920240"/>
          </a:xfrm>
          <a:prstGeom prst="rect">
            <a:avLst/>
          </a:prstGeom>
          <a:solidFill>
            <a:srgbClr val="F4BD67"/>
          </a:solidFill>
          <a:ln>
            <a:solidFill>
              <a:srgbClr val="F4B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2642616"/>
            <a:ext cx="28986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4BD67"/>
                </a:solidFill>
                <a:latin typeface="Aptos"/>
              </a:defRPr>
            </a:pPr>
            <a:r>
              <a:t>02  MANUAL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2926080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Evidence takes effort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3383280"/>
            <a:ext cx="289864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3AEC2"/>
                </a:solidFill>
                <a:latin typeface="Aptos"/>
              </a:defRPr>
            </a:pPr>
            <a:r>
              <a:t>Readers must inspect pages, extract relevant facts, and track where claims came from.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2468880"/>
            <a:ext cx="3429000" cy="2286000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4464" y="2651760"/>
            <a:ext cx="50292" cy="1920240"/>
          </a:xfrm>
          <a:prstGeom prst="rect">
            <a:avLst/>
          </a:prstGeom>
          <a:solidFill>
            <a:srgbClr val="FF7EAD"/>
          </a:solidFill>
          <a:ln>
            <a:solidFill>
              <a:srgbClr val="FF7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2642616"/>
            <a:ext cx="28986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7EAD"/>
                </a:solidFill>
                <a:latin typeface="Aptos"/>
              </a:defRPr>
            </a:pPr>
            <a:r>
              <a:t>03  REPETITIVE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926080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Synthesis is slow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3383280"/>
            <a:ext cx="289864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3AEC2"/>
                </a:solidFill>
                <a:latin typeface="Aptos"/>
              </a:defRPr>
            </a:pPr>
            <a:r>
              <a:t>Turning notes into a clear, structured report is another step in the workflow.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5166360"/>
            <a:ext cx="10927080" cy="694944"/>
          </a:xfrm>
          <a:prstGeom prst="roundRect">
            <a:avLst>
              <a:gd name="adj" fmla="val 14000"/>
            </a:avLst>
          </a:prstGeom>
          <a:solidFill>
            <a:srgbClr val="151F31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340096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9D8D0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2576" y="5285232"/>
            <a:ext cx="8732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F7FC"/>
                </a:solidFill>
                <a:latin typeface="Aptos"/>
              </a:defRPr>
            </a:pPr>
            <a:r>
              <a:t>Automate the research loop while keeping findings tied to sources and supporting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9D8D0"/>
                </a:solidFill>
                <a:latin typeface="Aptos"/>
              </a:defRPr>
            </a:pPr>
            <a:r>
              <a:t>02  / 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4F7FC"/>
                </a:solidFill>
                <a:latin typeface="Aptos"/>
              </a:defRPr>
            </a:pPr>
            <a:r>
              <a:t>One topic, a structured research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A3AEC2"/>
                </a:solidFill>
                <a:latin typeface="Aptos"/>
              </a:defRPr>
            </a:pPr>
            <a:r>
              <a:t>RESEARCH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49224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3AEC2"/>
                </a:solidFill>
                <a:latin typeface="Aptos"/>
              </a:defRPr>
            </a:pPr>
            <a:r>
              <a:t>03  / 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3AEC2"/>
                </a:solidFill>
                <a:latin typeface="Aptos"/>
              </a:defRPr>
            </a:pPr>
            <a:r>
              <a:t>The agent uses tools to gather material, records evidence, checks support, then writes the report.</a:t>
            </a:r>
          </a:p>
        </p:txBody>
      </p:sp>
      <p:sp>
        <p:nvSpPr>
          <p:cNvPr id="8" name="Oval 7"/>
          <p:cNvSpPr/>
          <p:nvPr/>
        </p:nvSpPr>
        <p:spPr>
          <a:xfrm>
            <a:off x="1069848" y="2130552"/>
            <a:ext cx="512064" cy="512064"/>
          </a:xfrm>
          <a:prstGeom prst="ellipse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203704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0D1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27632" y="2359152"/>
            <a:ext cx="813816" cy="22860"/>
          </a:xfrm>
          <a:prstGeom prst="rect">
            <a:avLst/>
          </a:prstGeom>
          <a:solidFill>
            <a:srgbClr val="26344B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907792"/>
            <a:ext cx="1572768" cy="1426464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81528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182FF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65576"/>
            <a:ext cx="13533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3AEC2"/>
                </a:solidFill>
                <a:latin typeface="Aptos"/>
              </a:defRPr>
            </a:pPr>
            <a:r>
              <a:t>Create a research plan</a:t>
            </a:r>
          </a:p>
        </p:txBody>
      </p:sp>
      <p:sp>
        <p:nvSpPr>
          <p:cNvPr id="14" name="Oval 13"/>
          <p:cNvSpPr/>
          <p:nvPr/>
        </p:nvSpPr>
        <p:spPr>
          <a:xfrm>
            <a:off x="2990087" y="2130552"/>
            <a:ext cx="512064" cy="512064"/>
          </a:xfrm>
          <a:prstGeom prst="ellipse">
            <a:avLst/>
          </a:prstGeom>
          <a:solidFill>
            <a:srgbClr val="75A9FF"/>
          </a:solidFill>
          <a:ln>
            <a:solidFill>
              <a:srgbClr val="75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7" y="2203704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0D1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7872" y="2359152"/>
            <a:ext cx="813816" cy="22860"/>
          </a:xfrm>
          <a:prstGeom prst="rect">
            <a:avLst/>
          </a:prstGeom>
          <a:solidFill>
            <a:srgbClr val="26344B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42032" y="2907792"/>
            <a:ext cx="1572768" cy="1426464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3081528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5A9FF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465576"/>
            <a:ext cx="13533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3AEC2"/>
                </a:solidFill>
                <a:latin typeface="Aptos"/>
              </a:defRPr>
            </a:pPr>
            <a:r>
              <a:t>Web + academic results</a:t>
            </a:r>
          </a:p>
        </p:txBody>
      </p:sp>
      <p:sp>
        <p:nvSpPr>
          <p:cNvPr id="20" name="Oval 19"/>
          <p:cNvSpPr/>
          <p:nvPr/>
        </p:nvSpPr>
        <p:spPr>
          <a:xfrm>
            <a:off x="4910328" y="2130552"/>
            <a:ext cx="512064" cy="512064"/>
          </a:xfrm>
          <a:prstGeom prst="ellipse">
            <a:avLst/>
          </a:prstGeom>
          <a:solidFill>
            <a:srgbClr val="49D8D0"/>
          </a:solidFill>
          <a:ln>
            <a:solidFill>
              <a:srgbClr val="49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2203704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0D1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68112" y="2359152"/>
            <a:ext cx="813816" cy="22860"/>
          </a:xfrm>
          <a:prstGeom prst="rect">
            <a:avLst/>
          </a:prstGeom>
          <a:solidFill>
            <a:srgbClr val="26344B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62272" y="2907792"/>
            <a:ext cx="1572768" cy="1426464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081528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9D8D0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465576"/>
            <a:ext cx="13533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3AEC2"/>
                </a:solidFill>
                <a:latin typeface="Aptos"/>
              </a:defRPr>
            </a:pPr>
            <a:r>
              <a:t>Inspect accessible sources</a:t>
            </a:r>
          </a:p>
        </p:txBody>
      </p:sp>
      <p:sp>
        <p:nvSpPr>
          <p:cNvPr id="26" name="Oval 25"/>
          <p:cNvSpPr/>
          <p:nvPr/>
        </p:nvSpPr>
        <p:spPr>
          <a:xfrm>
            <a:off x="6830568" y="2130552"/>
            <a:ext cx="512064" cy="512064"/>
          </a:xfrm>
          <a:prstGeom prst="ellipse">
            <a:avLst/>
          </a:prstGeom>
          <a:solidFill>
            <a:srgbClr val="F4BD67"/>
          </a:solidFill>
          <a:ln>
            <a:solidFill>
              <a:srgbClr val="F4B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2203704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0D1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88352" y="2359152"/>
            <a:ext cx="813816" cy="22860"/>
          </a:xfrm>
          <a:prstGeom prst="rect">
            <a:avLst/>
          </a:prstGeom>
          <a:solidFill>
            <a:srgbClr val="26344B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82512" y="2907792"/>
            <a:ext cx="1572768" cy="1426464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081528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4BD67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465576"/>
            <a:ext cx="13533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3AEC2"/>
                </a:solidFill>
                <a:latin typeface="Aptos"/>
              </a:defRPr>
            </a:pPr>
            <a:r>
              <a:t>Save claim + evidence</a:t>
            </a:r>
          </a:p>
        </p:txBody>
      </p:sp>
      <p:sp>
        <p:nvSpPr>
          <p:cNvPr id="32" name="Oval 31"/>
          <p:cNvSpPr/>
          <p:nvPr/>
        </p:nvSpPr>
        <p:spPr>
          <a:xfrm>
            <a:off x="8750808" y="2130552"/>
            <a:ext cx="512064" cy="512064"/>
          </a:xfrm>
          <a:prstGeom prst="ellipse">
            <a:avLst/>
          </a:prstGeom>
          <a:solidFill>
            <a:srgbClr val="5AD795"/>
          </a:solidFill>
          <a:ln>
            <a:solidFill>
              <a:srgbClr val="5AD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0808" y="2203704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0D1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08592" y="2359152"/>
            <a:ext cx="813816" cy="22860"/>
          </a:xfrm>
          <a:prstGeom prst="rect">
            <a:avLst/>
          </a:prstGeom>
          <a:solidFill>
            <a:srgbClr val="26344B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02752" y="2907792"/>
            <a:ext cx="1572768" cy="1426464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3081528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AD795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465576"/>
            <a:ext cx="13533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3AEC2"/>
                </a:solidFill>
                <a:latin typeface="Aptos"/>
              </a:defRPr>
            </a:pPr>
            <a:r>
              <a:t>Check evidence support</a:t>
            </a:r>
          </a:p>
        </p:txBody>
      </p:sp>
      <p:sp>
        <p:nvSpPr>
          <p:cNvPr id="38" name="Oval 37"/>
          <p:cNvSpPr/>
          <p:nvPr/>
        </p:nvSpPr>
        <p:spPr>
          <a:xfrm>
            <a:off x="10671048" y="2130552"/>
            <a:ext cx="512064" cy="512064"/>
          </a:xfrm>
          <a:prstGeom prst="ellipse">
            <a:avLst/>
          </a:prstGeom>
          <a:solidFill>
            <a:srgbClr val="FF7EAD"/>
          </a:solidFill>
          <a:ln>
            <a:solidFill>
              <a:srgbClr val="FF7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71048" y="2203704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0D1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22992" y="2907792"/>
            <a:ext cx="1572768" cy="1426464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19" y="3081528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7EAD"/>
                </a:solidFill>
                <a:latin typeface="Aptos"/>
              </a:defRPr>
            </a:pPr>
            <a:r>
              <a:t>SYNTHESIZE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19" y="3465576"/>
            <a:ext cx="13533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3AEC2"/>
                </a:solidFill>
                <a:latin typeface="Aptos"/>
              </a:defRPr>
            </a:pPr>
            <a:r>
              <a:t>Write Markdown report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" y="4892040"/>
            <a:ext cx="10927080" cy="804672"/>
          </a:xfrm>
          <a:prstGeom prst="roundRect">
            <a:avLst>
              <a:gd name="adj" fmla="val 14000"/>
            </a:avLst>
          </a:prstGeom>
          <a:solidFill>
            <a:srgbClr val="151F31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512064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9D8D0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6816" y="5047488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F7FC"/>
                </a:solidFill>
                <a:latin typeface="Aptos"/>
              </a:defRPr>
            </a:pPr>
            <a:r>
              <a:t>A concise report grounded in the findings that passed the evidence check.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9D8D0"/>
                </a:solidFill>
                <a:latin typeface="Aptos"/>
              </a:defRPr>
            </a:pPr>
            <a:r>
              <a:t>03  /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4F7FC"/>
                </a:solidFill>
                <a:latin typeface="Aptos"/>
              </a:defRPr>
            </a:pPr>
            <a:r>
              <a:t>A lightweight web app with a tool-using AI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A3AEC2"/>
                </a:solidFill>
                <a:latin typeface="Aptos"/>
              </a:defRPr>
            </a:pPr>
            <a:r>
              <a:t>RESEARCH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49224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3AEC2"/>
                </a:solidFill>
                <a:latin typeface="Aptos"/>
              </a:defRPr>
            </a:pPr>
            <a:r>
              <a:t>04  /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28800"/>
            <a:ext cx="1965960" cy="3090672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03911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9D8D0"/>
                </a:solidFill>
                <a:latin typeface="Aptos"/>
              </a:defRPr>
            </a:pPr>
            <a: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478024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4F7FC"/>
                </a:solidFill>
                <a:latin typeface="Aptos"/>
              </a:defRPr>
            </a:pPr>
            <a:r>
              <a:t>Browser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3035808"/>
            <a:ext cx="148132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HTML " CSS " JS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Topic input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Live activity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Rendered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828800"/>
            <a:ext cx="2286000" cy="3090672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0984" y="203911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5A9FF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0984" y="2478024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4F7FC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0984" y="3035808"/>
            <a:ext cx="175564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/research  "  SSE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/chat  "  sync API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/health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Pydantic schemas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3016" y="1828800"/>
            <a:ext cx="2423160" cy="3090672"/>
          </a:xfrm>
          <a:prstGeom prst="roundRect">
            <a:avLst>
              <a:gd name="adj" fmla="val 14000"/>
            </a:avLst>
          </a:prstGeom>
          <a:solidFill>
            <a:srgbClr val="151F31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2039112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182FF"/>
                </a:solidFill>
                <a:latin typeface="Aptos"/>
              </a:defRPr>
            </a:pPr>
            <a:r>
              <a:t>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478024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4F7FC"/>
                </a:solidFill>
                <a:latin typeface="Aptos"/>
              </a:defRPr>
            </a:pPr>
            <a:r>
              <a:t>Research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035808"/>
            <a:ext cx="187451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Ollama " qwen3:4b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Tool-calling loop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Evidence notes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Progress events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69096" y="1828800"/>
            <a:ext cx="2779776" cy="3090672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2039112"/>
            <a:ext cx="22677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4BD67"/>
                </a:solidFill>
                <a:latin typeface="Aptos"/>
              </a:defRPr>
            </a:pPr>
            <a:r>
              <a:t>RESEARCH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478024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Sources &amp; synthesis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3035808"/>
            <a:ext cx="21945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DDGS web search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OpenAlex papers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Requests + BeautifulSoup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LLM evidence check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Markdown report</a:t>
            </a:r>
          </a:p>
        </p:txBody>
      </p:sp>
      <p:sp>
        <p:nvSpPr>
          <p:cNvPr id="23" name="Chevron 22"/>
          <p:cNvSpPr/>
          <p:nvPr/>
        </p:nvSpPr>
        <p:spPr>
          <a:xfrm>
            <a:off x="2670048" y="2980944"/>
            <a:ext cx="310896" cy="457200"/>
          </a:xfrm>
          <a:prstGeom prst="chevron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5440680" y="2980944"/>
            <a:ext cx="310896" cy="457200"/>
          </a:xfrm>
          <a:prstGeom prst="chevron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evron 24"/>
          <p:cNvSpPr/>
          <p:nvPr/>
        </p:nvSpPr>
        <p:spPr>
          <a:xfrm>
            <a:off x="8357616" y="2980944"/>
            <a:ext cx="310896" cy="457200"/>
          </a:xfrm>
          <a:prstGeom prst="chevron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367528"/>
            <a:ext cx="107899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3AEC2"/>
                </a:solidFill>
                <a:latin typeface="Aptos"/>
              </a:defRPr>
            </a:pPr>
            <a:r>
              <a:t>The UI receives server-sent progress updates while the research pipeline runs in a worker thread.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9D8D0"/>
                </a:solidFill>
                <a:latin typeface="Aptos"/>
              </a:defRPr>
            </a:pPr>
            <a:r>
              <a:t>04  /  AGENT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4F7FC"/>
                </a:solidFill>
                <a:latin typeface="Aptos"/>
              </a:defRPr>
            </a:pPr>
            <a:r>
              <a:t>Designed to keep the research process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A3AEC2"/>
                </a:solidFill>
                <a:latin typeface="Aptos"/>
              </a:defRPr>
            </a:pPr>
            <a:r>
              <a:t>RESEARCH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49224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3AEC2"/>
                </a:solidFill>
                <a:latin typeface="Aptos"/>
              </a:defRPr>
            </a:pPr>
            <a:r>
              <a:t>05  /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755648"/>
            <a:ext cx="5257800" cy="1481328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38528"/>
            <a:ext cx="50292" cy="1115568"/>
          </a:xfrm>
          <a:prstGeom prst="rect">
            <a:avLst/>
          </a:prstGeom>
          <a:solidFill>
            <a:srgbClr val="75A9FF"/>
          </a:solidFill>
          <a:ln>
            <a:solidFill>
              <a:srgbClr val="75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929384"/>
            <a:ext cx="47274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75A9FF"/>
                </a:solidFill>
                <a:latin typeface="Aptos"/>
              </a:defRPr>
            </a:pPr>
            <a:r>
              <a:t>GATHER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212848"/>
            <a:ext cx="4727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Two complementary search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670048"/>
            <a:ext cx="4727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Search the open web and OpenAlex academic works; inspect titles, URLs, dates, snippets, and abstracts.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755648"/>
            <a:ext cx="5257800" cy="1481328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55664" y="1938528"/>
            <a:ext cx="50292" cy="1115568"/>
          </a:xfrm>
          <a:prstGeom prst="rect">
            <a:avLst/>
          </a:prstGeom>
          <a:solidFill>
            <a:srgbClr val="49D8D0"/>
          </a:solidFill>
          <a:ln>
            <a:solidFill>
              <a:srgbClr val="49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1929384"/>
            <a:ext cx="47274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49D8D0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2212848"/>
            <a:ext cx="4727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Read accessible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2670048"/>
            <a:ext cx="4727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Extract readable text; skip blocked or failed sources and continue with alternatives.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584448"/>
            <a:ext cx="5257800" cy="1481328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" y="3767328"/>
            <a:ext cx="50292" cy="1115568"/>
          </a:xfrm>
          <a:prstGeom prst="rect">
            <a:avLst/>
          </a:prstGeom>
          <a:solidFill>
            <a:srgbClr val="F4BD67"/>
          </a:solidFill>
          <a:ln>
            <a:solidFill>
              <a:srgbClr val="F4B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758184"/>
            <a:ext cx="47274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4BD67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041648"/>
            <a:ext cx="4727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Store claim, source, and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498848"/>
            <a:ext cx="4727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Research notes retain a source URL, the finding, and the evidence used to support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584448"/>
            <a:ext cx="5257800" cy="1481328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3767328"/>
            <a:ext cx="50292" cy="1115568"/>
          </a:xfrm>
          <a:prstGeom prst="rect">
            <a:avLst/>
          </a:prstGeom>
          <a:solidFill>
            <a:srgbClr val="5AD795"/>
          </a:solidFill>
          <a:ln>
            <a:solidFill>
              <a:srgbClr val="5AD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3758184"/>
            <a:ext cx="47274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AD795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544" y="4041648"/>
            <a:ext cx="4727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Check before synthesis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544" y="4498848"/>
            <a:ext cx="4727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A local model assesses whether the supplied evidence directly supports each finding.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53212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3AEC2"/>
                </a:solidFill>
                <a:latin typeface="Aptos"/>
              </a:defRPr>
            </a:pPr>
            <a:r>
              <a:t>Progress events cover planning, steps, tool calls, verification, completion, and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9D8D0"/>
                </a:solidFill>
                <a:latin typeface="Aptos"/>
              </a:defRPr>
            </a:pPr>
            <a:r>
              <a:t>05  / 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4F7FC"/>
                </a:solidFill>
                <a:latin typeface="Aptos"/>
              </a:defRPr>
            </a:pPr>
            <a:r>
              <a:t>A simple interface for a multi-step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A3AEC2"/>
                </a:solidFill>
                <a:latin typeface="Aptos"/>
              </a:defRPr>
            </a:pPr>
            <a:r>
              <a:t>RESEARCH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49224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3AEC2"/>
                </a:solidFill>
                <a:latin typeface="Aptos"/>
              </a:defRPr>
            </a:pPr>
            <a:r>
              <a:t>06  /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00200"/>
            <a:ext cx="6537960" cy="4343400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1828800"/>
            <a:ext cx="6016752" cy="530352"/>
          </a:xfrm>
          <a:prstGeom prst="roundRect">
            <a:avLst>
              <a:gd name="adj" fmla="val 14000"/>
            </a:avLst>
          </a:prstGeom>
          <a:solidFill>
            <a:srgbClr val="151F31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01952"/>
            <a:ext cx="219456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3AEC2"/>
                </a:solidFill>
                <a:latin typeface="Aptos"/>
              </a:defRPr>
            </a:pPr>
            <a:r>
              <a:t>Research topic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103120"/>
            <a:ext cx="5440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4F7FC"/>
                </a:solidFill>
                <a:latin typeface="Aptos"/>
              </a:defRPr>
            </a:pPr>
            <a:r>
              <a:t>Impact of generative AI on software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182FF"/>
                </a:solidFill>
                <a:latin typeface="Aptos"/>
              </a:defRPr>
            </a:pPr>
            <a:r>
              <a:t>RESEARCH 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926080"/>
            <a:ext cx="5303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4F7FC"/>
                </a:solidFill>
                <a:latin typeface="Aptos"/>
              </a:defRPr>
            </a:pPr>
            <a:r>
              <a:t>Working on your research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3575303"/>
            <a:ext cx="164592" cy="164592"/>
          </a:xfrm>
          <a:prstGeom prst="ellipse">
            <a:avLst/>
          </a:prstGeom>
          <a:solidFill>
            <a:srgbClr val="5AD795"/>
          </a:solidFill>
          <a:ln>
            <a:solidFill>
              <a:srgbClr val="5AD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529584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Research plan created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014215"/>
            <a:ext cx="164592" cy="164592"/>
          </a:xfrm>
          <a:prstGeom prst="ellipse">
            <a:avLst/>
          </a:prstGeom>
          <a:solidFill>
            <a:srgbClr val="75A9FF"/>
          </a:solidFill>
          <a:ln>
            <a:solidFill>
              <a:srgbClr val="75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396849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Searching academic papers</a:t>
            </a:r>
          </a:p>
        </p:txBody>
      </p:sp>
      <p:sp>
        <p:nvSpPr>
          <p:cNvPr id="17" name="Oval 16"/>
          <p:cNvSpPr/>
          <p:nvPr/>
        </p:nvSpPr>
        <p:spPr>
          <a:xfrm>
            <a:off x="987552" y="4453128"/>
            <a:ext cx="164592" cy="164592"/>
          </a:xfrm>
          <a:prstGeom prst="ellipse">
            <a:avLst/>
          </a:prstGeom>
          <a:solidFill>
            <a:srgbClr val="5AD795"/>
          </a:solidFill>
          <a:ln>
            <a:solidFill>
              <a:srgbClr val="5AD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4407408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Completed: read_webpage</a:t>
            </a:r>
          </a:p>
        </p:txBody>
      </p:sp>
      <p:sp>
        <p:nvSpPr>
          <p:cNvPr id="19" name="Oval 18"/>
          <p:cNvSpPr/>
          <p:nvPr/>
        </p:nvSpPr>
        <p:spPr>
          <a:xfrm>
            <a:off x="987552" y="4892040"/>
            <a:ext cx="164592" cy="164592"/>
          </a:xfrm>
          <a:prstGeom prst="ellipse">
            <a:avLst/>
          </a:prstGeom>
          <a:solidFill>
            <a:srgbClr val="5AD795"/>
          </a:solidFill>
          <a:ln>
            <a:solidFill>
              <a:srgbClr val="5AD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484632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Verified recorded note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62088" y="1600200"/>
            <a:ext cx="3986784" cy="4343400"/>
          </a:xfrm>
          <a:prstGeom prst="roundRect">
            <a:avLst>
              <a:gd name="adj" fmla="val 14000"/>
            </a:avLst>
          </a:prstGeom>
          <a:solidFill>
            <a:srgbClr val="151F31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7" y="1911095"/>
            <a:ext cx="3337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9D8D0"/>
                </a:solidFill>
                <a:latin typeface="Aptos"/>
              </a:defRPr>
            </a:pPr>
            <a:r>
              <a:t>WHAT THE USER GETS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2377440"/>
            <a:ext cx="324612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4F7FC"/>
                </a:solidFill>
                <a:latin typeface="Aptos"/>
              </a:defRPr>
            </a:pPr>
            <a:r>
              <a:t>A report, not a search dump.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3319272"/>
            <a:ext cx="3182112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3AEC2"/>
                </a:solidFill>
                <a:latin typeface="Aptos"/>
              </a:defRPr>
            </a:pPr>
            <a:r>
              <a:t>" Live research status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3AEC2"/>
                </a:solidFill>
                <a:latin typeface="Aptos"/>
              </a:defRPr>
            </a:pPr>
            <a:r>
              <a:t>" Visible tool activity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3AEC2"/>
                </a:solidFill>
                <a:latin typeface="Aptos"/>
              </a:defRPr>
            </a:pPr>
            <a:r>
              <a:t>" Evidence-checked findings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3AEC2"/>
                </a:solidFill>
                <a:latin typeface="Aptos"/>
              </a:defRPr>
            </a:pPr>
            <a:r>
              <a:t>" Structured Markdown 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3AEC2"/>
                </a:solidFill>
                <a:latin typeface="Aptos"/>
              </a:defRPr>
            </a:pPr>
            <a:r>
              <a:t>" Clear errors when research fails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071616"/>
            <a:ext cx="10744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3AEC2"/>
                </a:solidFill>
                <a:latin typeface="Aptos"/>
              </a:defRPr>
            </a:pPr>
            <a:r>
              <a:t>The frontend escapes generated content before rendering it as report 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9D8D0"/>
                </a:solidFill>
                <a:latin typeface="Aptos"/>
              </a:defRPr>
            </a:pPr>
            <a:r>
              <a:t>06  / 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4F7FC"/>
                </a:solidFill>
                <a:latin typeface="Aptos"/>
              </a:defRPr>
            </a:pPr>
            <a:r>
              <a:t>Built with a focused, local-first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A3AEC2"/>
                </a:solidFill>
                <a:latin typeface="Aptos"/>
              </a:defRPr>
            </a:pPr>
            <a:r>
              <a:t>RESEARCH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49224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3AEC2"/>
                </a:solidFill>
                <a:latin typeface="Aptos"/>
              </a:defRPr>
            </a:pPr>
            <a:r>
              <a:t>07  /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73352"/>
            <a:ext cx="6812280" cy="786384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3816" y="1837944"/>
            <a:ext cx="54864" cy="457200"/>
          </a:xfrm>
          <a:prstGeom prst="rect">
            <a:avLst/>
          </a:prstGeom>
          <a:solidFill>
            <a:srgbClr val="49D8D0"/>
          </a:solidFill>
          <a:ln>
            <a:solidFill>
              <a:srgbClr val="49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49D8D0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1764792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C"/>
                </a:solidFill>
                <a:latin typeface="Aptos"/>
              </a:defRPr>
            </a:pPr>
            <a:r>
              <a:t>HTML " CSS "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2075688"/>
            <a:ext cx="45262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3AEC2"/>
                </a:solidFill>
                <a:latin typeface="Aptos"/>
              </a:defRPr>
            </a:pPr>
            <a:r>
              <a:t>Responsive browser UI and event-stream reader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679192"/>
            <a:ext cx="6812280" cy="786384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" y="2843784"/>
            <a:ext cx="54864" cy="457200"/>
          </a:xfrm>
          <a:prstGeom prst="rect">
            <a:avLst/>
          </a:prstGeom>
          <a:solidFill>
            <a:srgbClr val="75A9FF"/>
          </a:solidFill>
          <a:ln>
            <a:solidFill>
              <a:srgbClr val="75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788920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75A9FF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2770632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C"/>
                </a:solidFill>
                <a:latin typeface="Aptos"/>
              </a:defRPr>
            </a:pPr>
            <a:r>
              <a:t>FastAPI " Uvicorn " Pydantic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2" y="3081528"/>
            <a:ext cx="45262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3AEC2"/>
                </a:solidFill>
                <a:latin typeface="Aptos"/>
              </a:defRPr>
            </a:pPr>
            <a:r>
              <a:t>HTTP endpoints, validation, streaming response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685032"/>
            <a:ext cx="6812280" cy="786384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" y="3849624"/>
            <a:ext cx="54864" cy="457200"/>
          </a:xfrm>
          <a:prstGeom prst="rect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794760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9182FF"/>
                </a:solidFill>
                <a:latin typeface="Aptos"/>
              </a:defRPr>
            </a:pPr>
            <a:r>
              <a:t>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87752" y="3776472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C"/>
                </a:solidFill>
                <a:latin typeface="Aptos"/>
              </a:defRPr>
            </a:pPr>
            <a:r>
              <a:t>Python " Ollama " qwen3:4b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7752" y="4087368"/>
            <a:ext cx="45262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3AEC2"/>
                </a:solidFill>
                <a:latin typeface="Aptos"/>
              </a:defRPr>
            </a:pPr>
            <a:r>
              <a:t>Tool-calling orchestration and report generation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690872"/>
            <a:ext cx="6812280" cy="786384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" y="4855464"/>
            <a:ext cx="54864" cy="457200"/>
          </a:xfrm>
          <a:prstGeom prst="rect">
            <a:avLst/>
          </a:prstGeom>
          <a:solidFill>
            <a:srgbClr val="F4BD67"/>
          </a:solidFill>
          <a:ln>
            <a:solidFill>
              <a:srgbClr val="F4B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800600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4BD67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7752" y="4782312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C"/>
                </a:solidFill>
                <a:latin typeface="Aptos"/>
              </a:defRPr>
            </a:pPr>
            <a:r>
              <a:t>DDGS " OpenAlex " Requests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87752" y="5093208"/>
            <a:ext cx="45262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3AEC2"/>
                </a:solidFill>
                <a:latin typeface="Aptos"/>
              </a:defRPr>
            </a:pPr>
            <a:r>
              <a:t>Web discovery, academic search, page extraction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45552" y="1673352"/>
            <a:ext cx="3703320" cy="3803904"/>
          </a:xfrm>
          <a:prstGeom prst="roundRect">
            <a:avLst>
              <a:gd name="adj" fmla="val 14000"/>
            </a:avLst>
          </a:prstGeom>
          <a:solidFill>
            <a:srgbClr val="151F31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5592" y="1975104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9D8D0"/>
                </a:solidFill>
                <a:latin typeface="Aptos"/>
              </a:defRPr>
            </a:pPr>
            <a:r>
              <a:t>API SURFACE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2496312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F7FC"/>
                </a:solidFill>
                <a:latin typeface="Consolas"/>
              </a:defRPr>
            </a:pPr>
            <a:r>
              <a:t>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496312"/>
            <a:ext cx="187451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3AEC2"/>
                </a:solidFill>
                <a:latin typeface="Aptos"/>
              </a:defRPr>
            </a:pPr>
            <a:r>
              <a:t>Serve the 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3118104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F7FC"/>
                </a:solidFill>
                <a:latin typeface="Consolas"/>
              </a:defRPr>
            </a:pPr>
            <a:r>
              <a:t>/health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118104"/>
            <a:ext cx="187451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3AEC2"/>
                </a:solidFill>
                <a:latin typeface="Aptos"/>
              </a:defRPr>
            </a:pPr>
            <a:r>
              <a:t>Health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3739896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F7FC"/>
                </a:solidFill>
                <a:latin typeface="Consolas"/>
              </a:defRPr>
            </a:pPr>
            <a:r>
              <a:t>/chat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739896"/>
            <a:ext cx="187451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3AEC2"/>
                </a:solidFill>
                <a:latin typeface="Aptos"/>
              </a:defRPr>
            </a:pPr>
            <a:r>
              <a:t>Synchronous 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5592" y="4361688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F7FC"/>
                </a:solidFill>
                <a:latin typeface="Consolas"/>
              </a:defRPr>
            </a:pPr>
            <a:r>
              <a:t>/research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361688"/>
            <a:ext cx="187451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3AEC2"/>
                </a:solidFill>
                <a:latin typeface="Aptos"/>
              </a:defRPr>
            </a:pPr>
            <a:r>
              <a:t>Server-sent research events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9801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3AEC2"/>
                </a:solidFill>
                <a:latin typeface="Aptos"/>
              </a:defRPr>
            </a:pPr>
            <a:r>
              <a:t>Research notes are held in process memory and cleared at the start of a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9D8D0"/>
                </a:solidFill>
                <a:latin typeface="Aptos"/>
              </a:defRPr>
            </a:pPr>
            <a:r>
              <a:t>07  /  RELIABILITY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4F7FC"/>
                </a:solidFill>
                <a:latin typeface="Aptos"/>
              </a:defRPr>
            </a:pPr>
            <a:r>
              <a:t>Trust comes from transparency"and clear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A3AEC2"/>
                </a:solidFill>
                <a:latin typeface="Aptos"/>
              </a:defRPr>
            </a:pPr>
            <a:r>
              <a:t>RESEARCH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49224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3AEC2"/>
                </a:solidFill>
                <a:latin typeface="Aptos"/>
              </a:defRPr>
            </a:pPr>
            <a:r>
              <a:t>08  /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91640"/>
            <a:ext cx="5257800" cy="1627632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874520"/>
            <a:ext cx="50292" cy="1261872"/>
          </a:xfrm>
          <a:prstGeom prst="rect">
            <a:avLst/>
          </a:prstGeom>
          <a:solidFill>
            <a:srgbClr val="5AD795"/>
          </a:solidFill>
          <a:ln>
            <a:solidFill>
              <a:srgbClr val="5AD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865376"/>
            <a:ext cx="47274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AD795"/>
                </a:solidFill>
                <a:latin typeface="Aptos"/>
              </a:defRPr>
            </a:pPr>
            <a:r>
              <a:t>BUILT-IN SAFEGUARDS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148840"/>
            <a:ext cx="4727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Source-aware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606040"/>
            <a:ext cx="47274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Prefers primary research and official reports; records evidence; avoids inventing sources; reports insufficient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691640"/>
            <a:ext cx="5257800" cy="1627632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55664" y="1874520"/>
            <a:ext cx="50292" cy="1261872"/>
          </a:xfrm>
          <a:prstGeom prst="rect">
            <a:avLst/>
          </a:prstGeom>
          <a:solidFill>
            <a:srgbClr val="75A9FF"/>
          </a:solidFill>
          <a:ln>
            <a:solidFill>
              <a:srgbClr val="75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1865376"/>
            <a:ext cx="47274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75A9FF"/>
                </a:solidFill>
                <a:latin typeface="Aptos"/>
              </a:defRPr>
            </a:pPr>
            <a:r>
              <a:t>EXECUTION BOUNDS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2148840"/>
            <a:ext cx="4727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Controlled research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2606040"/>
            <a:ext cx="47274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Targets 2 verified findings; has a step cap; limits page reading between note-taking; truncates page text sent to the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675887"/>
            <a:ext cx="5257800" cy="1627632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" y="3858768"/>
            <a:ext cx="50292" cy="1261872"/>
          </a:xfrm>
          <a:prstGeom prst="rect">
            <a:avLst/>
          </a:prstGeom>
          <a:solidFill>
            <a:srgbClr val="F4BD67"/>
          </a:solidFill>
          <a:ln>
            <a:solidFill>
              <a:srgbClr val="F4B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849624"/>
            <a:ext cx="47274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4BD67"/>
                </a:solidFill>
                <a:latin typeface="Aptos"/>
              </a:defRPr>
            </a:pPr>
            <a:r>
              <a:t>IMPORTANT LIMITATION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133087"/>
            <a:ext cx="4727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Verification is model-assisted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590288"/>
            <a:ext cx="47274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The evidence check is performed by an LLM. It is not an independent fact-check or guarantee that a source is authoritative.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675887"/>
            <a:ext cx="5257800" cy="1627632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3858768"/>
            <a:ext cx="50292" cy="1261872"/>
          </a:xfrm>
          <a:prstGeom prst="rect">
            <a:avLst/>
          </a:prstGeom>
          <a:solidFill>
            <a:srgbClr val="FF7EAD"/>
          </a:solidFill>
          <a:ln>
            <a:solidFill>
              <a:srgbClr val="FF7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3849624"/>
            <a:ext cx="47274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7EAD"/>
                </a:solidFill>
                <a:latin typeface="Aptos"/>
              </a:defRPr>
            </a:pPr>
            <a:r>
              <a:t>OPERATIONAL DEPENDENCY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544" y="4133087"/>
            <a:ext cx="4727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Local model + network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544" y="4590288"/>
            <a:ext cx="47274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3AEC2"/>
                </a:solidFill>
                <a:latin typeface="Aptos"/>
              </a:defRPr>
            </a:pPr>
            <a:r>
              <a:t>Ollama must provide qwen3:4b; search and source access depend on available network services and accessible pages.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742432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3AEC2"/>
                </a:solidFill>
                <a:latin typeface="Aptos"/>
              </a:defRPr>
            </a:pPr>
            <a:r>
              <a:t>Current implementation note: research notes are in-memory, not persisted between runs.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9D8D0"/>
                </a:solidFill>
                <a:latin typeface="Aptos"/>
              </a:defRPr>
            </a:pPr>
            <a:r>
              <a:t>08  /  DEMO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4F7FC"/>
                </a:solidFill>
                <a:latin typeface="Aptos"/>
              </a:defRPr>
            </a:pPr>
            <a:r>
              <a:t>A clear path from demo to a more dependable research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A3AEC2"/>
                </a:solidFill>
                <a:latin typeface="Aptos"/>
              </a:defRPr>
            </a:pPr>
            <a:r>
              <a:t>RESEARCH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49224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3AEC2"/>
                </a:solidFill>
                <a:latin typeface="Aptos"/>
              </a:defRPr>
            </a:pPr>
            <a:r>
              <a:t>09  /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64208"/>
            <a:ext cx="5257800" cy="4160520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6596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9D8D0"/>
                </a:solidFill>
                <a:latin typeface="Aptos"/>
              </a:defRPr>
            </a:pPr>
            <a:r>
              <a:t>DEMO FLOW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532888"/>
            <a:ext cx="310896" cy="310896"/>
          </a:xfrm>
          <a:prstGeom prst="ellipse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542032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90D1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523744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F7FC"/>
                </a:solidFill>
                <a:latin typeface="Aptos"/>
              </a:defRPr>
            </a:pPr>
            <a:r>
              <a:t>Enter a focused research question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200400"/>
            <a:ext cx="310896" cy="310896"/>
          </a:xfrm>
          <a:prstGeom prst="ellipse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90D1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191256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F7FC"/>
                </a:solidFill>
                <a:latin typeface="Aptos"/>
              </a:defRPr>
            </a:pPr>
            <a:r>
              <a:t>Watch the plan and search activity stream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867912"/>
            <a:ext cx="310896" cy="310896"/>
          </a:xfrm>
          <a:prstGeom prst="ellipse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87705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90D1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58768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F7FC"/>
                </a:solidFill>
                <a:latin typeface="Aptos"/>
              </a:defRPr>
            </a:pPr>
            <a:r>
              <a:t>Review evidence checks and completion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535424"/>
            <a:ext cx="310896" cy="310896"/>
          </a:xfrm>
          <a:prstGeom prst="ellipse">
            <a:avLst/>
          </a:prstGeom>
          <a:solidFill>
            <a:srgbClr val="9182FF"/>
          </a:solidFill>
          <a:ln>
            <a:solidFill>
              <a:srgbClr val="91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54456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90D1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26280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F7FC"/>
                </a:solidFill>
                <a:latin typeface="Aptos"/>
              </a:defRPr>
            </a:pPr>
            <a:r>
              <a:t>Read the generated Markdown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1664208"/>
            <a:ext cx="5257800" cy="4160520"/>
          </a:xfrm>
          <a:prstGeom prst="roundRect">
            <a:avLst>
              <a:gd name="adj" fmla="val 14000"/>
            </a:avLst>
          </a:prstGeom>
          <a:solidFill>
            <a:srgbClr val="151F31"/>
          </a:solidFill>
          <a:ln>
            <a:solidFill>
              <a:srgbClr val="26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1965960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182FF"/>
                </a:solidFill>
                <a:latin typeface="Aptos"/>
              </a:defRPr>
            </a:pPr>
            <a:r>
              <a:t>NEXT ITERATIONS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2487168"/>
            <a:ext cx="4526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4F7FC"/>
                </a:solidFill>
                <a:latin typeface="Aptos"/>
              </a:defRPr>
            </a:pPr>
            <a:r>
              <a:t>Persist research sessions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2761488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3AEC2"/>
                </a:solidFill>
                <a:latin typeface="Aptos"/>
              </a:defRPr>
            </a:pPr>
            <a:r>
              <a:t>Save notes and reports beyond one run.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3191256"/>
            <a:ext cx="4526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4F7FC"/>
                </a:solidFill>
                <a:latin typeface="Aptos"/>
              </a:defRPr>
            </a:pPr>
            <a:r>
              <a:t>Strengthen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3465576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3AEC2"/>
                </a:solidFill>
                <a:latin typeface="Aptos"/>
              </a:defRPr>
            </a:pPr>
            <a:r>
              <a:t>Add source-quality signals and independent corroboration.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3895344"/>
            <a:ext cx="4526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4F7FC"/>
                </a:solidFill>
                <a:latin typeface="Aptos"/>
              </a:defRPr>
            </a:pPr>
            <a:r>
              <a:t>Improve resilience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169663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3AEC2"/>
                </a:solidFill>
                <a:latin typeface="Aptos"/>
              </a:defRPr>
            </a:pPr>
            <a:r>
              <a:t>Add retries, cancellation, and clearer failure recovery.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599432"/>
            <a:ext cx="4526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4F7FC"/>
                </a:solidFill>
                <a:latin typeface="Aptos"/>
              </a:defRPr>
            </a:pPr>
            <a:r>
              <a:t>Expand 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4873752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3AEC2"/>
                </a:solidFill>
                <a:latin typeface="Aptos"/>
              </a:defRPr>
            </a:pPr>
            <a:r>
              <a:t>Test report quality and citation traceability on benchmark topics.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09904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3AEC2"/>
                </a:solidFill>
                <a:latin typeface="Aptos"/>
              </a:defRPr>
            </a:pPr>
            <a:r>
              <a:t>Research AI  "  Plan " investigate " verify " synthesize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AI " Project Overview</dc:title>
  <dc:subject>AI-powered web and academic research agent</dc:subject>
  <dc:creator>Research AI Project</dc:creator>
  <cp:keywords>AI, research agent, evidence, FastAPI, Ollama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